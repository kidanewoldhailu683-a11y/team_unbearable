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100" b="1">
                <a:solidFill>
                  <a:srgbClr val="2980B9"/>
                </a:solidFill>
              </a:defRPr>
            </a:pPr>
            <a:r>
              <a:t>SLIDE 1 · EXECUTIVE OVERVIEW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Addis Ride Demand Forecasting: Problem &amp; Data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486400" cy="5303520"/>
          </a:xfrm>
          <a:prstGeom prst="roundRect">
            <a:avLst/>
          </a:prstGeom>
          <a:solidFill>
            <a:srgbClr val="F0F4F8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1B365D"/>
                </a:solidFill>
              </a:defRPr>
            </a:pPr>
            <a:r>
              <a:t>🎯 Problem &amp; Operational Objective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</a:defRPr>
            </a:pPr>
            <a:r>
              <a:t>• Objective: Forecast hourly ride requests (trips) across 12 Addis Ababa zones for 1–14 Nov 2025.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</a:defRPr>
            </a:pPr>
            <a:r>
              <a:t>• Operational Value: Allows dispatchers to position drivers 24–48 hours ahead, reducing rider wait times.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</a:defRPr>
            </a:pPr>
            <a:r>
              <a:t>• Validation Hygiene: Strict chronological split (Jan 1–Oct 17 Train, Oct 18–31 Validation).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</a:defRPr>
            </a:pPr>
            <a:r>
              <a:t>• Forecast Availability: Excluded train-only post-hoc variables (active_drivers, avg_wait_min, avg_fare_birr) to prevent data leakage.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188720"/>
            <a:ext cx="5486400" cy="5303520"/>
          </a:xfrm>
          <a:prstGeom prst="roundRect">
            <a:avLst/>
          </a:prstGeom>
          <a:solidFill>
            <a:srgbClr val="F0F4F8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1B365D"/>
                </a:solidFill>
              </a:defRPr>
            </a:pPr>
            <a:r>
              <a:t>📊 Three Raw Data Tables</a:t>
            </a:r>
          </a:p>
          <a:p>
            <a:pPr>
              <a:defRPr sz="1400" b="1">
                <a:solidFill>
                  <a:srgbClr val="2980B9"/>
                </a:solidFill>
              </a:defRPr>
            </a:pPr>
            <a:r>
              <a:t>1. Trip History (ride_demand_train.csv)</a:t>
            </a:r>
          </a:p>
          <a:p>
            <a:pPr>
              <a:spcAft>
                <a:spcPts val="1200"/>
              </a:spcAft>
              <a:defRPr sz="1200">
                <a:solidFill>
                  <a:srgbClr val="212529"/>
                </a:solidFill>
              </a:defRPr>
            </a:pPr>
            <a:r>
              <a:t>~85,460 rows of hourly trips per zone (Jan–Oct 2025). Test set: 4,032 zone-hours (Nov 1–14).</a:t>
            </a:r>
          </a:p>
          <a:p>
            <a:pPr>
              <a:defRPr sz="1400" b="1">
                <a:solidFill>
                  <a:srgbClr val="2980B9"/>
                </a:solidFill>
              </a:defRPr>
            </a:pPr>
            <a:r>
              <a:t>2. Hourly Weather (weather_hourly.csv)</a:t>
            </a:r>
          </a:p>
          <a:p>
            <a:pPr>
              <a:spcAft>
                <a:spcPts val="1200"/>
              </a:spcAft>
              <a:defRPr sz="1200">
                <a:solidFill>
                  <a:srgbClr val="212529"/>
                </a:solidFill>
              </a:defRPr>
            </a:pPr>
            <a:r>
              <a:t>~7,538 rows of hourly weather (temp_c, rain_mm, humidity_pct, wind_kmh). Includes Nov 1–14 weather forecasts.</a:t>
            </a:r>
          </a:p>
          <a:p>
            <a:pPr>
              <a:defRPr sz="1400" b="1">
                <a:solidFill>
                  <a:srgbClr val="2980B9"/>
                </a:solidFill>
              </a:defRPr>
            </a:pPr>
            <a:r>
              <a:t>3. City Events (events_calendar.csv)</a:t>
            </a:r>
          </a:p>
          <a:p>
            <a:pPr>
              <a:spcAft>
                <a:spcPts val="1200"/>
              </a:spcAft>
              <a:defRPr sz="1200">
                <a:solidFill>
                  <a:srgbClr val="212529"/>
                </a:solidFill>
              </a:defRPr>
            </a:pPr>
            <a:r>
              <a:t>165 event intervals (public holidays, football matches, concerts, conferences, road closures).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100" b="1">
                <a:solidFill>
                  <a:srgbClr val="2980B9"/>
                </a:solidFill>
              </a:defRPr>
            </a:pPr>
            <a:r>
              <a:t>SLIDE 2 · PIPELINE &amp; INTEGRATION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Data Cleaning, Clock Harmonization &amp; Join Audit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303520" cy="5303520"/>
          </a:xfrm>
          <a:prstGeom prst="roundRect">
            <a:avLst/>
          </a:prstGeom>
          <a:solidFill>
            <a:srgbClr val="F0F4F8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1B365D"/>
                </a:solidFill>
              </a:defRPr>
            </a:pPr>
            <a:r>
              <a:t>🛠️ Cleaning &amp; Integration Audit</a:t>
            </a:r>
          </a:p>
          <a:p>
            <a:pPr>
              <a:spcAft>
                <a:spcPts val="800"/>
              </a:spcAft>
              <a:defRPr sz="1300" b="1">
                <a:solidFill>
                  <a:srgbClr val="2980B9"/>
                </a:solidFill>
              </a:defRPr>
            </a:pPr>
            <a:r>
              <a:t>• Zone Harmonization: </a:t>
            </a:r>
            <a:r>
              <a:rPr b="0">
                <a:solidFill>
                  <a:srgbClr val="212529"/>
                </a:solidFill>
              </a:rPr>
              <a:t>Mapped 12 inconsistent spellings (PIASSA, kazanchis bus, bole rd) to canonical 12 zone labels.</a:t>
            </a:r>
          </a:p>
          <a:p>
            <a:pPr>
              <a:spcAft>
                <a:spcPts val="800"/>
              </a:spcAft>
              <a:defRPr sz="1300" b="1">
                <a:solidFill>
                  <a:srgbClr val="2980B9"/>
                </a:solidFill>
              </a:defRPr>
            </a:pPr>
            <a:r>
              <a:t>• Clock Proof (UTC Offset): </a:t>
            </a:r>
            <a:r>
              <a:rPr b="0">
                <a:solidFill>
                  <a:srgbClr val="212529"/>
                </a:solidFill>
              </a:rPr>
              <a:t>Raw weather timestamps ended in 'Z' (UTC). Converted to Africa/Addis_Ababa (UTC+3) to align diurnal temp peak at 14:00 EAT.</a:t>
            </a:r>
          </a:p>
          <a:p>
            <a:pPr>
              <a:spcAft>
                <a:spcPts val="800"/>
              </a:spcAft>
              <a:defRPr sz="1300" b="1">
                <a:solidFill>
                  <a:srgbClr val="2980B9"/>
                </a:solidFill>
              </a:defRPr>
            </a:pPr>
            <a:r>
              <a:t>• Weather Join Audit: </a:t>
            </a:r>
            <a:r>
              <a:rPr b="0">
                <a:solidFill>
                  <a:srgbClr val="212529"/>
                </a:solidFill>
              </a:rPr>
              <a:t>Many-to-One join on pickup_datetime. Achieved 100.0% match rate across all 85,460 trip rows.</a:t>
            </a:r>
          </a:p>
          <a:p>
            <a:pPr>
              <a:spcAft>
                <a:spcPts val="800"/>
              </a:spcAft>
              <a:defRPr sz="1300" b="1">
                <a:solidFill>
                  <a:srgbClr val="2980B9"/>
                </a:solidFill>
              </a:defRPr>
            </a:pPr>
            <a:r>
              <a:t>• Events Interval Join: </a:t>
            </a:r>
            <a:r>
              <a:rPr b="0">
                <a:solidFill>
                  <a:srgbClr val="212529"/>
                </a:solidFill>
              </a:rPr>
              <a:t>Evaluated pickup_datetime inside [start, end]. 142/165 events matched active zone-hours.</a:t>
            </a:r>
          </a:p>
          <a:p>
            <a:pPr>
              <a:spcAft>
                <a:spcPts val="800"/>
              </a:spcAft>
              <a:defRPr sz="1300" b="1">
                <a:solidFill>
                  <a:srgbClr val="2980B9"/>
                </a:solidFill>
              </a:defRPr>
            </a:pPr>
            <a:r>
              <a:t>• Automated Integrity: </a:t>
            </a:r>
            <a:r>
              <a:rPr b="0">
                <a:solidFill>
                  <a:srgbClr val="212529"/>
                </a:solidFill>
              </a:rPr>
              <a:t>6 automated assert checks passed (zero missing keys, exact 12 zones, row count preserved).</a:t>
            </a:r>
          </a:p>
        </p:txBody>
      </p:sp>
      <p:pic>
        <p:nvPicPr>
          <p:cNvPr id="4" name="Picture 3" descr="fig06_weather_timezone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188720"/>
            <a:ext cx="56692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100" b="1">
                <a:solidFill>
                  <a:srgbClr val="2980B9"/>
                </a:solidFill>
              </a:defRPr>
            </a:pPr>
            <a:r>
              <a:t>SLIDE 3 · VISUAL ANALYSIS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Explanatory Insights: Demand Profiles &amp; Weather/Event Sensitivity</a:t>
            </a:r>
          </a:p>
        </p:txBody>
      </p:sp>
      <p:pic>
        <p:nvPicPr>
          <p:cNvPr id="3" name="Picture 2" descr="fig07_rain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86400" cy="3474720"/>
          </a:xfrm>
          <a:prstGeom prst="rect">
            <a:avLst/>
          </a:prstGeom>
        </p:spPr>
      </p:pic>
      <p:pic>
        <p:nvPicPr>
          <p:cNvPr id="4" name="Picture 3" descr="fig08_event_stud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34747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4846320"/>
            <a:ext cx="11277295" cy="1645920"/>
          </a:xfrm>
          <a:prstGeom prst="roundRect">
            <a:avLst/>
          </a:prstGeom>
          <a:solidFill>
            <a:srgbClr val="F0F4F8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600" b="1">
                <a:solidFill>
                  <a:srgbClr val="1B365D"/>
                </a:solidFill>
              </a:defRPr>
            </a:pPr>
            <a:r>
              <a:t>💡 Key Explanatory Findings</a:t>
            </a:r>
          </a:p>
          <a:p>
            <a:pPr>
              <a:spcAft>
                <a:spcPts val="400"/>
              </a:spcAft>
              <a:defRPr sz="1200">
                <a:solidFill>
                  <a:srgbClr val="212529"/>
                </a:solidFill>
              </a:defRPr>
            </a:pPr>
            <a:r>
              <a:t>• Finding 1 (Rain Effect): Heavy rain (&gt;7.6mm) drives up to +34% demand uplift in business/commercial zones (Kazanchis, Megenagna) as commuters switch from walking/minibuses to ride-hailing.</a:t>
            </a:r>
          </a:p>
          <a:p>
            <a:pPr>
              <a:spcAft>
                <a:spcPts val="400"/>
              </a:spcAft>
              <a:defRPr sz="1200">
                <a:solidFill>
                  <a:srgbClr val="212529"/>
                </a:solidFill>
              </a:defRPr>
            </a:pPr>
            <a:r>
              <a:t>• Finding 2 (Event Uplift): Football matches at Addis Ababa Stadium generate a 42% demand spike in the 2 hours immediately following match completion, localized strictly to Stadium/Kazanchis zones.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100" b="1">
                <a:solidFill>
                  <a:srgbClr val="2980B9"/>
                </a:solidFill>
              </a:defRPr>
            </a:pPr>
            <a:r>
              <a:t>SLIDE 4 · MODELING &amp; EVALUATION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Modeling Strategy, Model Comparison &amp; Ablation Audit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486400" cy="5303520"/>
          </a:xfrm>
          <a:prstGeom prst="roundRect">
            <a:avLst/>
          </a:prstGeom>
          <a:solidFill>
            <a:srgbClr val="F0F4F8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1B365D"/>
                </a:solidFill>
              </a:defRPr>
            </a:pPr>
            <a:r>
              <a:t>📈 Model Comparison (Validation RMSE)</a:t>
            </a:r>
          </a:p>
          <a:p>
            <a:pPr>
              <a:spcAft>
                <a:spcPts val="600"/>
              </a:spcAft>
              <a:defRPr sz="1300" b="1">
                <a:solidFill>
                  <a:srgbClr val="1B365D"/>
                </a:solidFill>
              </a:defRPr>
            </a:pPr>
            <a:r>
              <a:t>• Mean Predictor Baseline: </a:t>
            </a:r>
            <a:r>
              <a:rPr b="0">
                <a:solidFill>
                  <a:srgbClr val="212529"/>
                </a:solidFill>
              </a:rPr>
              <a:t>RMSE: 18.42 | MAE: 14.10</a:t>
            </a:r>
          </a:p>
          <a:p>
            <a:pPr>
              <a:spcAft>
                <a:spcPts val="600"/>
              </a:spcAft>
              <a:defRPr sz="1300" b="1">
                <a:solidFill>
                  <a:srgbClr val="1B365D"/>
                </a:solidFill>
              </a:defRPr>
            </a:pPr>
            <a:r>
              <a:t>• Seasonal-Naive Baseline: </a:t>
            </a:r>
            <a:r>
              <a:rPr b="0">
                <a:solidFill>
                  <a:srgbClr val="212529"/>
                </a:solidFill>
              </a:rPr>
              <a:t>RMSE: 11.25 | MAE: 7.85</a:t>
            </a:r>
          </a:p>
          <a:p>
            <a:pPr>
              <a:spcAft>
                <a:spcPts val="600"/>
              </a:spcAft>
              <a:defRPr sz="1300" b="1">
                <a:solidFill>
                  <a:srgbClr val="1B365D"/>
                </a:solidFill>
              </a:defRPr>
            </a:pPr>
            <a:r>
              <a:t>• Linear / Ridge Regression: </a:t>
            </a:r>
            <a:r>
              <a:rPr b="0">
                <a:solidFill>
                  <a:srgbClr val="212529"/>
                </a:solidFill>
              </a:rPr>
              <a:t>RMSE: 9.85 | MAE: 6.92</a:t>
            </a:r>
          </a:p>
          <a:p>
            <a:pPr>
              <a:spcAft>
                <a:spcPts val="600"/>
              </a:spcAft>
              <a:defRPr sz="1300" b="1">
                <a:solidFill>
                  <a:srgbClr val="1B365D"/>
                </a:solidFill>
              </a:defRPr>
            </a:pPr>
            <a:r>
              <a:t>• Random Forest Regressor: </a:t>
            </a:r>
            <a:r>
              <a:rPr b="0">
                <a:solidFill>
                  <a:srgbClr val="212529"/>
                </a:solidFill>
              </a:rPr>
              <a:t>RMSE: 8.14 | MAE: 5.48</a:t>
            </a:r>
          </a:p>
          <a:p>
            <a:pPr>
              <a:spcAft>
                <a:spcPts val="600"/>
              </a:spcAft>
              <a:defRPr sz="1300" b="1">
                <a:solidFill>
                  <a:srgbClr val="2980B9"/>
                </a:solidFill>
              </a:defRPr>
            </a:pPr>
            <a:r>
              <a:t>• HistGradientBoosting (Winner): </a:t>
            </a:r>
            <a:r>
              <a:rPr b="0">
                <a:solidFill>
                  <a:srgbClr val="2E7D32"/>
                </a:solidFill>
              </a:rPr>
              <a:t>RMSE: 6.42 | MAE: 4.18</a:t>
            </a:r>
          </a:p>
          <a:p>
            <a:br/>
            <a:pPr>
              <a:defRPr sz="1600" b="1">
                <a:solidFill>
                  <a:srgbClr val="1B365D"/>
                </a:solidFill>
              </a:defRPr>
            </a:pPr>
            <a:r>
              <a:t>🧪 Ablation Study Results (D5)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  ▫ Calendar + Zone + Trend: RMSE 9.85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  ▫ + Weather Features: RMSE 7.92 (-1.93)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  ▫ + Event Features: RMSE 7.15 (-0.77)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  ▫ + Weather &amp; Events (Final): RMSE 6.42 (-3.43 total)</a:t>
            </a:r>
          </a:p>
        </p:txBody>
      </p:sp>
      <p:pic>
        <p:nvPicPr>
          <p:cNvPr id="4" name="Picture 3" descr="fig10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4864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100" b="1">
                <a:solidFill>
                  <a:srgbClr val="2980B9"/>
                </a:solidFill>
              </a:defRPr>
            </a:pPr>
            <a:r>
              <a:t>SLIDE 5 · DEMO &amp; CONCLUSION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Error Analysis, Deployed Demo &amp; Operations Impact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486400" cy="5303520"/>
          </a:xfrm>
          <a:prstGeom prst="roundRect">
            <a:avLst/>
          </a:prstGeom>
          <a:solidFill>
            <a:srgbClr val="F0F4F8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1B365D"/>
                </a:solidFill>
              </a:defRPr>
            </a:pPr>
            <a:r>
              <a:t>🔍 Error Diagnostics &amp; Operational Metric</a:t>
            </a:r>
          </a:p>
          <a:p>
            <a:pPr>
              <a:spcAft>
                <a:spcPts val="800"/>
              </a:spcAft>
              <a:defRPr sz="1300" b="1">
                <a:solidFill>
                  <a:srgbClr val="2980B9"/>
                </a:solidFill>
              </a:defRPr>
            </a:pPr>
            <a:r>
              <a:t>• Top Feature Drivers: </a:t>
            </a:r>
            <a:r>
              <a:rPr b="0">
                <a:solidFill>
                  <a:srgbClr val="212529"/>
                </a:solidFill>
              </a:rPr>
              <a:t>zone_dow_hour_mean_trips, hour, rain_mm, is_event_active, temp_c.</a:t>
            </a:r>
          </a:p>
          <a:p>
            <a:pPr>
              <a:spcAft>
                <a:spcPts val="800"/>
              </a:spcAft>
              <a:defRPr sz="1300" b="1">
                <a:solidFill>
                  <a:srgbClr val="2980B9"/>
                </a:solidFill>
              </a:defRPr>
            </a:pPr>
            <a:r>
              <a:t>• Largest Error Residuals: </a:t>
            </a:r>
            <a:r>
              <a:rPr b="0">
                <a:solidFill>
                  <a:srgbClr val="212529"/>
                </a:solidFill>
              </a:rPr>
              <a:t>Unannounced flash rainstorms and unlisted local religious processions caused top 10 error spikes.</a:t>
            </a:r>
          </a:p>
          <a:p>
            <a:pPr>
              <a:spcAft>
                <a:spcPts val="800"/>
              </a:spcAft>
              <a:defRPr sz="1300" b="1">
                <a:solidFill>
                  <a:srgbClr val="2980B9"/>
                </a:solidFill>
              </a:defRPr>
            </a:pPr>
            <a:r>
              <a:t>• Operational Metric (D9): </a:t>
            </a:r>
            <a:r>
              <a:rPr b="0">
                <a:solidFill>
                  <a:srgbClr val="212529"/>
                </a:solidFill>
              </a:rPr>
              <a:t>6.42 RMSE translates to ~±4.9 drivers per zone-hour (assuming 1.3 trips/driver/hr), maintaining an operational error margin &lt; 12%.</a:t>
            </a:r>
          </a:p>
          <a:p>
            <a:pPr>
              <a:spcAft>
                <a:spcPts val="800"/>
              </a:spcAft>
              <a:defRPr sz="1300" b="1">
                <a:solidFill>
                  <a:srgbClr val="2980B9"/>
                </a:solidFill>
              </a:defRPr>
            </a:pPr>
            <a:r>
              <a:t>• Deployed Forecast Demo (E): </a:t>
            </a:r>
            <a:r>
              <a:rPr b="0">
                <a:solidFill>
                  <a:srgbClr val="212529"/>
                </a:solidFill>
              </a:rPr>
              <a:t>Interactive Streamlit app deployed locally / Streamlit Cloud. Input: Zone + Date -&gt; Output: 24h forecast, drivers needed, expected fare revenue.</a:t>
            </a:r>
          </a:p>
          <a:p>
            <a:pPr>
              <a:defRPr sz="1500" b="1">
                <a:solidFill>
                  <a:srgbClr val="1B365D"/>
                </a:solidFill>
              </a:defRPr>
            </a:pPr>
            <a:r>
              <a:t>🚀 Next Iteration Steps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  ▫ Integrate real-time traffic congestion API feeds.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  ▫ Implement Quantile Regression to provide uncertainty bounds for fleet planning.</a:t>
            </a:r>
          </a:p>
        </p:txBody>
      </p:sp>
      <p:pic>
        <p:nvPicPr>
          <p:cNvPr id="4" name="Picture 3" descr="fig12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486400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