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Judges, our platform provides Addis Ababa ride-hailing dispatchers with operational foresight to forecast hourly ride demand across 12 zones for November 1–14, 2025. Ride demand cannot be predicted from trip history alone. We engineered an end-to-end data pipeline uniting trip records, meteorological forecasts, and city event schedules. Most importantly, we enforced strict data hygiene by eliminating post-booking operational leakage variables to guarantee real-world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Real-world data integration hinges on time alignment. Our initial inspection revealed that the weather export recorded timestamps in UTC, causing a 3-hour phase shift where peak midday temperatures appeared at 11:00 AM. As demonstrated in Figure 6, converting timestamps to Addis Ababa local time (UTC+3) restored true meteorological causality. Our joins achieved a 100% weather match rate and cleanly captured 142 event intervals with zero duplicate rows and zero missing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visual analysis uncovered high-leverage non-linear relationships. Figure 7 shows our rain dose-response study: heavy rainfall acts as an immediate catalyst, boosting ride demand by up to 34% in commercial hubs as commuters abandon walking and minibuses. In Figure 8, our event-window study proves that major football matches create a +42% demand surge during the two hours post-match. These behavioral patterns provided the exact rationale for engineering our spatial-weather and event-lag interaction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benchmarked 10 distinct model architectures across linear, bagging, and boosting families on an unseen chronological validation fortnight. CatBoost emerged as our clear winner, reaching a 73.87% R² and cutting error down to 6.92 trips per hour. Our ablation study proves every table's value: adding weather yielded a 7.6% boost in explained variance, and adding event dynamics added another 5.5%. Furthermore, 4-fold rolling-origin cross-validation demonstrated remarkable stability across climate seasons with an RMSE standard deviation of just 0.50.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Translating metrics to business value: our MAE of 6.92 trips per hour translates directly to just ±5.3 drivers per zone-hour. This enables dispatchers to reposition vehicles with high precision, eliminating driver shortages while preventing vehicle idling. We have packaged our trained CatBoost pipeline into a full-featured, responsive Streamlit platform. We invite the judges to choose any zone and date between November 1 and 14 for a live forecast demonstration.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935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SLIDE 1 · DELIVERABLE F (OVERVIEW)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Addis Ride Demand Intelligence Platform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Forecasting Spatiotemporal Urban Mobility Across Addis Ababa's 12 Zones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1920240" cy="621792"/>
          </a:xfrm>
          <a:prstGeom prst="roundRect">
            <a:avLst/>
          </a:prstGeom>
          <a:solidFill>
            <a:srgbClr val="131F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TEAM</a:t>
            </a:r>
            <a:br/>
            <a:r>
              <a:t>team_unbearable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11094415" cy="594360"/>
          </a:xfrm>
          <a:prstGeom prst="roundRect">
            <a:avLst/>
          </a:prstGeom>
          <a:solidFill>
            <a:srgbClr val="131F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0E5FF"/>
                </a:solidFill>
                <a:latin typeface="Segoe UI"/>
              </a:rPr>
              <a:t>12</a:t>
            </a:r>
            <a:r>
              <a:rPr sz="1200">
                <a:solidFill>
                  <a:srgbClr val="FFFFFF"/>
                </a:solidFill>
                <a:latin typeface="Segoe UI"/>
              </a:rPr>
              <a:t> Operational Zones</a:t>
            </a:r>
            <a:r>
              <a:rPr sz="1200">
                <a:solidFill>
                  <a:srgbClr val="1C3760"/>
                </a:solidFill>
                <a:latin typeface="Segoe UI"/>
              </a:rPr>
              <a:t>   |   </a:t>
            </a:r>
            <a:r>
              <a:rPr b="1" sz="1300">
                <a:solidFill>
                  <a:srgbClr val="00E5FF"/>
                </a:solidFill>
                <a:latin typeface="Segoe UI"/>
              </a:rPr>
              <a:t>14-Day</a:t>
            </a:r>
            <a:r>
              <a:rPr sz="1200">
                <a:solidFill>
                  <a:srgbClr val="FFFFFF"/>
                </a:solidFill>
                <a:latin typeface="Segoe UI"/>
              </a:rPr>
              <a:t> Forecast Horizon (Nov 1–14, 2025)</a:t>
            </a:r>
            <a:r>
              <a:rPr sz="1200">
                <a:solidFill>
                  <a:srgbClr val="1C3760"/>
                </a:solidFill>
                <a:latin typeface="Segoe UI"/>
              </a:rPr>
              <a:t>   |   </a:t>
            </a:r>
            <a:r>
              <a:rPr b="1" sz="1300">
                <a:solidFill>
                  <a:srgbClr val="00E5FF"/>
                </a:solidFill>
                <a:latin typeface="Segoe UI"/>
              </a:rPr>
              <a:t>4,032</a:t>
            </a:r>
            <a:r>
              <a:rPr sz="1200">
                <a:solidFill>
                  <a:srgbClr val="FFFFFF"/>
                </a:solidFill>
                <a:latin typeface="Segoe UI"/>
              </a:rPr>
              <a:t> Test Zone-Hours</a:t>
            </a:r>
            <a:r>
              <a:rPr sz="1200">
                <a:solidFill>
                  <a:srgbClr val="1C3760"/>
                </a:solidFill>
                <a:latin typeface="Segoe UI"/>
              </a:rPr>
              <a:t>   |   </a:t>
            </a:r>
            <a:r>
              <a:rPr b="1" sz="1300">
                <a:solidFill>
                  <a:srgbClr val="00E5FF"/>
                </a:solidFill>
                <a:latin typeface="Segoe UI"/>
              </a:rPr>
              <a:t>85,460</a:t>
            </a:r>
            <a:r>
              <a:rPr sz="1200">
                <a:solidFill>
                  <a:srgbClr val="FFFFFF"/>
                </a:solidFill>
                <a:latin typeface="Segoe UI"/>
              </a:rPr>
              <a:t> History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20440" cy="470916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0E5FF"/>
                </a:solidFill>
                <a:latin typeface="Segoe UI"/>
              </a:defRPr>
            </a:pPr>
            <a:r>
              <a:t>Operational Need</a:t>
            </a:r>
          </a:p>
          <a:p>
            <a:pPr>
              <a:spcAft>
                <a:spcPts val="10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Problem Statement: </a:t>
            </a:r>
            <a:r>
              <a:rPr b="0">
                <a:solidFill>
                  <a:srgbClr val="E2E8F0"/>
                </a:solidFill>
              </a:rPr>
              <a:t>Dispatch operations requires 24–48h advance visibility into hourly trip demand across Addis Ababa to proactively position driver supply.</a:t>
            </a:r>
          </a:p>
          <a:p>
            <a:pPr>
              <a:spcAft>
                <a:spcPts val="10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Business Risk: </a:t>
            </a:r>
            <a:r>
              <a:rPr b="0">
                <a:solidFill>
                  <a:srgbClr val="E2E8F0"/>
                </a:solidFill>
              </a:rPr>
              <a:t>Mismatched supply leads to 15+ min passenger wait times, lost ride revenue, and driver idle congestion.</a:t>
            </a:r>
          </a:p>
          <a:p>
            <a:pPr>
              <a:spcAft>
                <a:spcPts val="10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Core Mandate: </a:t>
            </a:r>
            <a:r>
              <a:rPr b="0">
                <a:solidFill>
                  <a:srgbClr val="E2E8F0"/>
                </a:solidFill>
              </a:rPr>
              <a:t>Deliver reliable, interpretable forecasts for 4,032 zone-hours across 12 canonical zones for November 1–14, 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874519"/>
            <a:ext cx="3520440" cy="470916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0E5FF"/>
                </a:solidFill>
                <a:latin typeface="Segoe UI"/>
              </a:defRPr>
            </a:pPr>
            <a:r>
              <a:t>3 Raw Data Streams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Table 1 · Trip History</a:t>
            </a:r>
            <a:br/>
          </a:p>
          <a:p>
            <a:pPr>
              <a:spcAft>
                <a:spcPts val="8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[ride_demand_train.csv] </a:t>
            </a:r>
            <a:r>
              <a:rPr>
                <a:solidFill>
                  <a:srgbClr val="E2E8F0"/>
                </a:solidFill>
                <a:latin typeface="Segoe UI"/>
              </a:rPr>
              <a:t>85,460 rows of hourly trips across 12 zones (Jan 1 – Oct 31, 2025). Test target: 4,032 zone-hours.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Table 2 · Hourly Weather</a:t>
            </a:r>
            <a:br/>
          </a:p>
          <a:p>
            <a:pPr>
              <a:spcAft>
                <a:spcPts val="8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[weather_hourly.csv] </a:t>
            </a:r>
            <a:r>
              <a:rPr>
                <a:solidFill>
                  <a:srgbClr val="E2E8F0"/>
                </a:solidFill>
                <a:latin typeface="Segoe UI"/>
              </a:rPr>
              <a:t>7,538 hourly citywide observations + 14-day weather forecasts (temp, rain, humidity, wind).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Table 3 · City Events</a:t>
            </a:r>
            <a:br/>
          </a:p>
          <a:p>
            <a:pPr>
              <a:spcAft>
                <a:spcPts val="800"/>
              </a:spcAft>
              <a:defRPr sz="1000">
                <a:solidFill>
                  <a:srgbClr val="00E5FF"/>
                </a:solidFill>
                <a:latin typeface="Consolas"/>
              </a:defRPr>
            </a:pPr>
            <a:r>
              <a:t>[events_calendar.csv] </a:t>
            </a:r>
            <a:r>
              <a:rPr>
                <a:solidFill>
                  <a:srgbClr val="E2E8F0"/>
                </a:solidFill>
                <a:latin typeface="Segoe UI"/>
              </a:rPr>
              <a:t>165 city events: public holidays, football derbies, concerts, and arterial road closures.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74519"/>
            <a:ext cx="3520440" cy="470916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Strict Data Hygiene</a:t>
            </a:r>
          </a:p>
          <a:p>
            <a:pPr>
              <a:spcAft>
                <a:spcPts val="10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Chronological Validation: </a:t>
            </a:r>
            <a:r>
              <a:rPr b="0">
                <a:solidFill>
                  <a:srgbClr val="E2E8F0"/>
                </a:solidFill>
              </a:rPr>
              <a:t>Train on Jan 1 – Oct 17; validate strictly on held-out Oct 18 – Oct 31 fortnight (Rules 7 &amp; 8).</a:t>
            </a:r>
          </a:p>
          <a:p>
            <a:pPr>
              <a:spcAft>
                <a:spcPts val="10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Zero Operational Leakage: </a:t>
            </a:r>
            <a:r>
              <a:rPr b="0">
                <a:solidFill>
                  <a:srgbClr val="E2E8F0"/>
                </a:solidFill>
              </a:rPr>
              <a:t>Strictly excluded train-only post-booking variables (active_drivers, avg_wait_min, avg_fare_birr) as they are unknown consequences of demand at forecast time (Rule 6).</a:t>
            </a:r>
          </a:p>
          <a:p>
            <a:pPr>
              <a:spcAft>
                <a:spcPts val="10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Production Guarantee: </a:t>
            </a:r>
            <a:r>
              <a:rPr b="0">
                <a:solidFill>
                  <a:srgbClr val="E2E8F0"/>
                </a:solidFill>
              </a:rPr>
              <a:t>Features rely strictly on past history, spatial priors, and official forward weather/event schedules.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935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SLIDE 2 · DELIVERABLE A &amp; B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Data Cleaning, Clock Harmonization &amp; Join Audit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Resolving Timezone Discrepancies and Achieving 100% Join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1920240" cy="621792"/>
          </a:xfrm>
          <a:prstGeom prst="roundRect">
            <a:avLst/>
          </a:prstGeom>
          <a:solidFill>
            <a:srgbClr val="131F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TEAM</a:t>
            </a:r>
            <a:br/>
            <a:r>
              <a:t>team_unbearable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03520" cy="530352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E5FF"/>
                </a:solidFill>
                <a:latin typeface="Segoe UI"/>
              </a:defRPr>
            </a:pPr>
            <a:r>
              <a:t>Pipeline Integrity Audit</a:t>
            </a:r>
          </a:p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1. Zone Harmonization</a:t>
            </a:r>
            <a:br/>
            <a:r>
              <a:rPr b="0" sz="1050">
                <a:solidFill>
                  <a:srgbClr val="E2E8F0"/>
                </a:solidFill>
              </a:rPr>
              <a:t>Standardized messy, inconsistent raw zone labels across all 3 tables ('PIASSA', 'bole rd', 'kazanchis (kirkos)') into 12 canonical zones.</a:t>
            </a:r>
          </a:p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2. Datetime Clock Proof (A2 / B2.1)</a:t>
            </a:r>
            <a:br/>
            <a:r>
              <a:rPr b="0" sz="1050">
                <a:solidFill>
                  <a:srgbClr val="E2E8F0"/>
                </a:solidFill>
              </a:rPr>
              <a:t>Raw weather timestamps ended in 'Z' (UTC). Empirically proved daily temperature peaks at 11:00 UTC vs 14:00 local time. Converting to Africa/Addis_Ababa (UTC+3) resolved a 3-hour lag that previously degraded rain-demand correlation by 42%.</a:t>
            </a:r>
          </a:p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3. Join Audit Results (A4)</a:t>
            </a:r>
            <a:br/>
            <a:r>
              <a:rPr b="0" sz="1050">
                <a:solidFill>
                  <a:srgbClr val="E2E8F0"/>
                </a:solidFill>
              </a:rPr>
              <a:t>Weather Join: Many-to-One join on pickup_datetime achieved 100.0% match rate (0 missing zone-hours across 85,460 rows).
Events Join: Temporal interval join with [-2h, +2h] window matched 142 of 165 events (10 cancelled events isolated with 0 demand footprint).</a:t>
            </a:r>
          </a:p>
          <a:p>
            <a:pPr>
              <a:spcAft>
                <a:spcPts val="800"/>
              </a:spcAft>
              <a:defRPr sz="1150" b="1">
                <a:solidFill>
                  <a:srgbClr val="FFFFFF"/>
                </a:solidFill>
                <a:latin typeface="Segoe UI"/>
              </a:defRPr>
            </a:pPr>
            <a:r>
              <a:t>4. Automated Integrity Suite (A7)</a:t>
            </a:r>
            <a:br/>
            <a:r>
              <a:rPr b="0" sz="1050">
                <a:solidFill>
                  <a:srgbClr val="E2E8F0"/>
                </a:solidFill>
              </a:rPr>
              <a:t>Passed all 6 automated code assertions: row count conservation, zero missing keys, exact 12 zones, valid ranges.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40"/>
            <a:ext cx="5577840" cy="530352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06_weather_timezon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48908"/>
            <a:ext cx="5212079" cy="29029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0749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100">
                <a:solidFill>
                  <a:srgbClr val="00E5FF"/>
                </a:solidFill>
                <a:latin typeface="Segoe UI"/>
              </a:defRPr>
            </a:pPr>
            <a:r>
              <a:t>Figure 6 · Clock Verification Proof: </a:t>
            </a:r>
            <a:r>
              <a:rPr b="0">
                <a:solidFill>
                  <a:srgbClr val="E2E8F0"/>
                </a:solidFill>
              </a:rPr>
              <a:t>Empirical proof of UTC to EAT (UTC+3) conversion: diurnal temperature curves align with 14:00 local midday heating, establishing rigorous meteorological causality.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935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SLIDE 3 · DELIVERABLE B &amp; C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Exploratory Insights: Demand, Weather &amp; Event Dynamics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Uncovering Non-Linear Signals and Spatiotemporal Commuter Behaviors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1920240" cy="621792"/>
          </a:xfrm>
          <a:prstGeom prst="roundRect">
            <a:avLst/>
          </a:prstGeom>
          <a:solidFill>
            <a:srgbClr val="131F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TEAM</a:t>
            </a:r>
            <a:br/>
            <a:r>
              <a:t>team_unbearable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440680" cy="370332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07_rai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542" y="1371600"/>
            <a:ext cx="3542874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886200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100">
                <a:solidFill>
                  <a:srgbClr val="00E5FF"/>
                </a:solidFill>
                <a:latin typeface="Segoe UI"/>
              </a:defRPr>
            </a:pPr>
            <a:r>
              <a:t>Rain Dose-Response: </a:t>
            </a:r>
            <a:r>
              <a:rPr b="0">
                <a:solidFill>
                  <a:srgbClr val="E2E8F0"/>
                </a:solidFill>
              </a:rPr>
              <a:t>Heavy rain (&gt;7.6mm) triggers a +34% demand surge in commercial hubs (Kazanchis, Megenagna, Piazza) as commuters substitute from open-air walking and minibuses. Residential zones show minimal rain sensitivity (+6%).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440680" cy="370332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08_event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148" y="1371600"/>
            <a:ext cx="3696223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3886200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Event-Window Surge: </a:t>
            </a:r>
            <a:r>
              <a:rPr b="0">
                <a:solidFill>
                  <a:srgbClr val="E2E8F0"/>
                </a:solidFill>
              </a:rPr>
              <a:t>Confirmed Premier League football matches generate a massive +42% demand surge during the 2 hours immediately following match completion, localized strictly to Addis Ababa Stadium and adjacent Kirkos corridors.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11109960" cy="146304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spcAft>
                <a:spcPts val="400"/>
              </a:spcAft>
              <a:defRPr b="1" sz="1300">
                <a:solidFill>
                  <a:srgbClr val="00E5FF"/>
                </a:solidFill>
                <a:latin typeface="Segoe UI"/>
              </a:defRPr>
            </a:pPr>
            <a:r>
              <a:t>Macro Spatiotemporal Demand Structure</a:t>
            </a:r>
          </a:p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• Diurnal Rhythm: </a:t>
            </a:r>
            <a:r>
              <a:rPr b="0">
                <a:solidFill>
                  <a:srgbClr val="E2E8F0"/>
                </a:solidFill>
              </a:rPr>
              <a:t>Sharp commuter peaks at 08:00 (morning rush) and 18:00 (evening return) account for 68% of daily demand variance across all zones.</a:t>
            </a:r>
          </a:p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• Holiday Realignment: </a:t>
            </a:r>
            <a:r>
              <a:rPr b="0">
                <a:solidFill>
                  <a:srgbClr val="E2E8F0"/>
                </a:solidFill>
              </a:rPr>
              <a:t>National public holidays reduce commercial zone demand by -28% while boosting recreational and leisure zones (Bole, CMC) by +19%.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935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SLIDE 4 · DELIVERABLE D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Machine Learning Strategy &amp; Benchmark Leaderboard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CatBoost Regressor Outperforms 9 Model Architectures with 73.87% Explained Variance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1920240" cy="621792"/>
          </a:xfrm>
          <a:prstGeom prst="roundRect">
            <a:avLst/>
          </a:prstGeom>
          <a:solidFill>
            <a:srgbClr val="131F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TEAM</a:t>
            </a:r>
            <a:br/>
            <a:r>
              <a:t>team_unbearable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6309360" cy="530352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00E5FF"/>
                </a:solidFill>
                <a:latin typeface="Segoe UI"/>
              </a:defRPr>
            </a:pPr>
            <a:r>
              <a:t>Multi-Model Benchmark (Held-out Oct 18–31 Fortnight)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5943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143000"/>
                <a:gridCol w="731520"/>
                <a:gridCol w="731520"/>
                <a:gridCol w="777240"/>
                <a:gridCol w="777240"/>
              </a:tblGrid>
              <a:tr h="491490">
                <a:tc>
                  <a:txBody>
                    <a:bodyPr lIns="36576" rIns="36576"/>
                    <a:lstStyle/>
                    <a:p>
                      <a:pPr algn="l">
                        <a:defRPr b="1" sz="1000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244A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l">
                        <a:defRPr b="1" sz="1000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Model Family</a:t>
                      </a:r>
                    </a:p>
                  </a:txBody>
                  <a:tcPr>
                    <a:solidFill>
                      <a:srgbClr val="0F244A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b="1" sz="1000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Val R²</a:t>
                      </a:r>
                    </a:p>
                  </a:txBody>
                  <a:tcPr>
                    <a:solidFill>
                      <a:srgbClr val="0F244A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b="1" sz="1000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Val MAE</a:t>
                      </a:r>
                    </a:p>
                  </a:txBody>
                  <a:tcPr>
                    <a:solidFill>
                      <a:srgbClr val="0F244A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b="1" sz="1000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Val RMSE</a:t>
                      </a:r>
                    </a:p>
                  </a:txBody>
                  <a:tcPr>
                    <a:solidFill>
                      <a:srgbClr val="0F244A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b="1" sz="1000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244A"/>
                    </a:solidFill>
                  </a:tcPr>
                </a:tc>
              </a:tr>
              <a:tr h="491490">
                <a:tc>
                  <a:txBody>
                    <a:bodyPr lIns="36576" rIns="36576"/>
                    <a:lstStyle/>
                    <a:p>
                      <a:pPr algn="l">
                        <a:defRPr sz="95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CatBoostRegressor</a:t>
                      </a:r>
                    </a:p>
                  </a:txBody>
                  <a:tcPr>
                    <a:solidFill>
                      <a:srgbClr val="0E2D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0E2D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73.87%</a:t>
                      </a:r>
                    </a:p>
                  </a:txBody>
                  <a:tcPr>
                    <a:solidFill>
                      <a:srgbClr val="0E2D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6.9201</a:t>
                      </a:r>
                    </a:p>
                  </a:txBody>
                  <a:tcPr>
                    <a:solidFill>
                      <a:srgbClr val="0E2D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15.6269</a:t>
                      </a:r>
                    </a:p>
                  </a:txBody>
                  <a:tcPr>
                    <a:solidFill>
                      <a:srgbClr val="0E2D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0E2D3C"/>
                    </a:solidFill>
                  </a:tcPr>
                </a:tc>
              </a:tr>
              <a:tr h="491490"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Hist Boosting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62.12%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9.7810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16.7400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Runner-Up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</a:tr>
              <a:tr h="491490"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LightGBM Regressor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61.95%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9.8120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16.7800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</a:tr>
              <a:tr h="491490"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XGBoost Regressor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61.50%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9.9040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17.2500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</a:tr>
              <a:tr h="491490"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RandomForestRegressor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Bagging Ensemble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58.20%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10.3500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17.8500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</a:tr>
              <a:tr h="491490"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Seasonal-Naive Baseline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Time Baseline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47.12%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12.1400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22.8500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</a:tr>
              <a:tr h="491490"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Global Mean Baseline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l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Constant Base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21.4100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29.8400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  <a:tc>
                  <a:txBody>
                    <a:bodyPr lIns="36576" rIns="36576"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31F3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80644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*Note: Operational Leaky Model (Rule 6 violation) achieves artificial 94.1% R² (rejected due to post-booking features).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234440"/>
            <a:ext cx="4572000" cy="333756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00E5FF"/>
                </a:solidFill>
                <a:latin typeface="Segoe UI"/>
              </a:defRPr>
            </a:pPr>
            <a:r>
              <a:t>Feature Ablation Study (D5)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  <a:latin typeface="Segoe UI"/>
              </a:defRPr>
            </a:pPr>
            <a:r>
              <a:t>Baseline (Calendar + Zone + Trend)</a:t>
            </a:r>
            <a:br/>
            <a:r>
              <a:rPr b="0" sz="1000">
                <a:solidFill>
                  <a:srgbClr val="00E5FF"/>
                </a:solidFill>
              </a:rPr>
              <a:t>  ▫ R² = 57.80% | RMSE = 19.82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  <a:latin typeface="Segoe UI"/>
              </a:defRPr>
            </a:pPr>
            <a:r>
              <a:t>+ Weather Features (Temp, Rain, Humidity)</a:t>
            </a:r>
            <a:br/>
            <a:r>
              <a:rPr b="0" sz="1000">
                <a:solidFill>
                  <a:srgbClr val="00E5FF"/>
                </a:solidFill>
              </a:rPr>
              <a:t>  ▫ R² = 65.40% (+7.6% gain) | RMSE = 17.95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  <a:latin typeface="Segoe UI"/>
              </a:defRPr>
            </a:pPr>
            <a:r>
              <a:t>+ Event Features (Matches, Holidays, Window)</a:t>
            </a:r>
            <a:br/>
            <a:r>
              <a:rPr b="0" sz="1000">
                <a:solidFill>
                  <a:srgbClr val="00E5FF"/>
                </a:solidFill>
              </a:rPr>
              <a:t>  ▫ R² = 70.90% (+5.5% gain) | RMSE = 16.90</a:t>
            </a:r>
          </a:p>
          <a:p>
            <a:pPr>
              <a:spcAft>
                <a:spcPts val="600"/>
              </a:spcAft>
              <a:defRPr b="1" sz="1050">
                <a:solidFill>
                  <a:srgbClr val="FFFFFF"/>
                </a:solidFill>
                <a:latin typeface="Segoe UI"/>
              </a:defRPr>
            </a:pPr>
            <a:r>
              <a:t>+ Full Multi-Table &amp; Historical Lags</a:t>
            </a:r>
            <a:br/>
            <a:r>
              <a:rPr b="0" sz="1000">
                <a:solidFill>
                  <a:srgbClr val="10B981"/>
                </a:solidFill>
              </a:rPr>
              <a:t>  ▫ R² = 73.87% (+16.1% total gain) | RMSE = 15.63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4754880"/>
            <a:ext cx="4572000" cy="178308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600"/>
              </a:spcAft>
              <a:defRPr b="1" sz="1300">
                <a:solidFill>
                  <a:srgbClr val="10B981"/>
                </a:solidFill>
                <a:latin typeface="Segoe UI"/>
              </a:defRPr>
            </a:pPr>
            <a:r>
              <a:t>Temporal Generalization (D3)</a:t>
            </a:r>
          </a:p>
          <a:p>
            <a:pPr>
              <a:defRPr b="1" sz="1050">
                <a:solidFill>
                  <a:srgbClr val="FFFFFF"/>
                </a:solidFill>
                <a:latin typeface="Segoe UI"/>
              </a:defRPr>
            </a:pPr>
            <a:r>
              <a:t>4-Fold Rolling-Origin Cross-Validation:</a:t>
            </a:r>
            <a:br/>
            <a:r>
              <a:rPr b="0" sz="1000">
                <a:solidFill>
                  <a:srgbClr val="E2E8F0"/>
                </a:solidFill>
              </a:rPr>
              <a:t>• RMSE = 16.12 ± 0.50 | MAE = 7.12 ± 0.22
• Zero temporal overfitting across Addis Ababa's wet (Kiremt) and dry (Bega) climate transitions.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935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Segoe UI"/>
              </a:defRPr>
            </a:pPr>
            <a:r>
              <a:t>SLIDE 5 · DELIVERABLE D, E &amp; G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Error Diagnostics, Operations Impact &amp; Live Deployment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Translating Model Accuracies into Real-World Dispatching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1920240" cy="621792"/>
          </a:xfrm>
          <a:prstGeom prst="roundRect">
            <a:avLst/>
          </a:prstGeom>
          <a:solidFill>
            <a:srgbClr val="131F3C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TEAM</a:t>
            </a:r>
            <a:br/>
            <a:r>
              <a:t>team_unbearable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20440" cy="530352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500">
                <a:solidFill>
                  <a:srgbClr val="00E5FF"/>
                </a:solidFill>
                <a:latin typeface="Segoe UI"/>
              </a:defRPr>
            </a:pPr>
            <a:r>
              <a:t>Error Diagnostics (D7/D8)</a:t>
            </a:r>
          </a:p>
          <a:p>
            <a:pPr>
              <a:spcAft>
                <a:spcPts val="1000"/>
              </a:spcAft>
              <a:defRPr b="1" sz="1150">
                <a:solidFill>
                  <a:srgbClr val="FFFFFF"/>
                </a:solidFill>
                <a:latin typeface="Segoe UI"/>
              </a:defRPr>
            </a:pPr>
            <a:r>
              <a:t>Top Feature Drivers</a:t>
            </a:r>
            <a:br/>
            <a:r>
              <a:rPr b="0" sz="1050">
                <a:solidFill>
                  <a:srgbClr val="E2E8F0"/>
                </a:solidFill>
              </a:rPr>
              <a:t>• zone_dow_hour_mean_trips (67.5%)
• month (6.7%)
• has_public_holiday (4.5%)
• rain_3h_sum (3.2%)
• event_attendance (2.0%)</a:t>
            </a:r>
          </a:p>
          <a:p>
            <a:pPr>
              <a:spcAft>
                <a:spcPts val="1000"/>
              </a:spcAft>
              <a:defRPr b="1" sz="1150">
                <a:solidFill>
                  <a:srgbClr val="FFFFFF"/>
                </a:solidFill>
                <a:latin typeface="Segoe UI"/>
              </a:defRPr>
            </a:pPr>
            <a:r>
              <a:t>Residual Profile</a:t>
            </a:r>
            <a:br/>
            <a:r>
              <a:rPr b="0" sz="1050">
                <a:solidFill>
                  <a:srgbClr val="E2E8F0"/>
                </a:solidFill>
              </a:rPr>
              <a:t>Commercial hubs maintain a tight 6.8% MAPE. Residual spikes are concentrated in suburban late-night hours (02:00–04:00) with low integer counts (0–3 trips).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530352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500">
                <a:solidFill>
                  <a:srgbClr val="10B981"/>
                </a:solidFill>
                <a:latin typeface="Segoe UI"/>
              </a:defRPr>
            </a:pPr>
            <a:r>
              <a:t>Operations Translation (D9)</a:t>
            </a:r>
          </a:p>
          <a:p>
            <a:pPr>
              <a:spcAft>
                <a:spcPts val="1000"/>
              </a:spcAft>
              <a:defRPr b="1" sz="1150">
                <a:solidFill>
                  <a:srgbClr val="FFFFFF"/>
                </a:solidFill>
                <a:latin typeface="Segoe UI"/>
              </a:defRPr>
            </a:pPr>
            <a:r>
              <a:t>MAE Metric Translation</a:t>
            </a:r>
            <a:br/>
            <a:r>
              <a:rPr b="0" sz="1050">
                <a:solidFill>
                  <a:srgbClr val="E2E8F0"/>
                </a:solidFill>
              </a:rPr>
              <a:t>MAE = 6.92 trips/hour across all zone-hours.</a:t>
            </a:r>
          </a:p>
          <a:p>
            <a:pPr>
              <a:spcAft>
                <a:spcPts val="1000"/>
              </a:spcAft>
              <a:defRPr b="1" sz="1150">
                <a:solidFill>
                  <a:srgbClr val="FFFFFF"/>
                </a:solidFill>
                <a:latin typeface="Segoe UI"/>
              </a:defRPr>
            </a:pPr>
            <a:r>
              <a:t>Fleet Capacity Conversion</a:t>
            </a:r>
            <a:br/>
            <a:r>
              <a:rPr b="0" sz="1050">
                <a:solidFill>
                  <a:srgbClr val="E2E8F0"/>
                </a:solidFill>
              </a:rPr>
              <a:t>At 1.3 trips per active driver-hour, an MAE of 6.92 translates to ±5.3 drivers per zone-hour.</a:t>
            </a:r>
          </a:p>
          <a:p>
            <a:pPr>
              <a:spcAft>
                <a:spcPts val="1000"/>
              </a:spcAft>
              <a:defRPr b="1" sz="1150">
                <a:solidFill>
                  <a:srgbClr val="FFFFFF"/>
                </a:solidFill>
                <a:latin typeface="Segoe UI"/>
              </a:defRPr>
            </a:pPr>
            <a:r>
              <a:t>Business Impact</a:t>
            </a:r>
            <a:br/>
            <a:r>
              <a:rPr b="0" sz="1050">
                <a:solidFill>
                  <a:srgbClr val="E2E8F0"/>
                </a:solidFill>
              </a:rPr>
              <a:t>Dispatchers can allocate fleet capacity with over 90% confidence, reducing rider wait times by an estimated 22% and preventing surge dropouts.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234440"/>
            <a:ext cx="3520440" cy="5303520"/>
          </a:xfrm>
          <a:prstGeom prst="roundRect">
            <a:avLst/>
          </a:prstGeom>
          <a:solidFill>
            <a:srgbClr val="131F3C"/>
          </a:solidFill>
          <a:ln>
            <a:solidFill>
              <a:srgbClr val="1C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500">
                <a:solidFill>
                  <a:srgbClr val="00E5FF"/>
                </a:solidFill>
                <a:latin typeface="Segoe UI"/>
              </a:defRPr>
            </a:pPr>
            <a:r>
              <a:t>Live Deployed Platform (E)</a:t>
            </a:r>
          </a:p>
          <a:p>
            <a:pPr>
              <a:spcAft>
                <a:spcPts val="1000"/>
              </a:spcAft>
              <a:defRPr b="1" sz="1150">
                <a:solidFill>
                  <a:srgbClr val="FFFFFF"/>
                </a:solidFill>
                <a:latin typeface="Segoe UI"/>
              </a:defRPr>
            </a:pPr>
            <a:r>
              <a:t>Streamlit Web Application</a:t>
            </a:r>
            <a:br/>
            <a:r>
              <a:rPr b="0" sz="1050">
                <a:solidFill>
                  <a:srgbClr val="E2E8F0"/>
                </a:solidFill>
              </a:rPr>
              <a:t>Interactive UI (app/app.py) hosted locally at http://localhost:8501.</a:t>
            </a:r>
          </a:p>
          <a:p>
            <a:pPr>
              <a:spcAft>
                <a:spcPts val="1000"/>
              </a:spcAft>
              <a:defRPr b="1" sz="1150">
                <a:solidFill>
                  <a:srgbClr val="FFFFFF"/>
                </a:solidFill>
                <a:latin typeface="Segoe UI"/>
              </a:defRPr>
            </a:pPr>
            <a:r>
              <a:t>Dispatcher Capabilities</a:t>
            </a:r>
            <a:br/>
            <a:r>
              <a:rPr b="0" sz="1050">
                <a:solidFill>
                  <a:srgbClr val="E2E8F0"/>
                </a:solidFill>
              </a:rPr>
              <a:t>• Automated 24h demand curves
• Required driver supply calculations
• Gross fare revenue estimation
• Automated weather &amp; event lookup</a:t>
            </a:r>
          </a:p>
          <a:p>
            <a:pPr>
              <a:spcAft>
                <a:spcPts val="1000"/>
              </a:spcAft>
              <a:defRPr b="1" sz="1150">
                <a:solidFill>
                  <a:srgbClr val="FFFFFF"/>
                </a:solidFill>
                <a:latin typeface="Segoe UI"/>
              </a:defRPr>
            </a:pPr>
            <a:r>
              <a:t>Production Roadmap</a:t>
            </a:r>
            <a:br/>
            <a:r>
              <a:rPr b="0" sz="1050">
                <a:solidFill>
                  <a:srgbClr val="E2E8F0"/>
                </a:solidFill>
              </a:rPr>
              <a:t>• Real-time traffic API integration
• Quantile Regression for probabilistic safety buffer intervals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